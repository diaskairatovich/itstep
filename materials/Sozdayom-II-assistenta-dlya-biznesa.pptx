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  <p:embeddedFont>
      <p:font typeface="Noto Sans Medium"/>
      <p:regular r:id="rId201316"/>
    </p:embeddedFont>
    <p:embeddedFont>
      <p:font typeface="Noto Sans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8371" y="3632200"/>
            <a:ext cx="9854953" cy="2823766"/>
          </a:xfrm>
          <a:prstGeom prst="roundRect">
            <a:avLst>
              <a:gd name="adj" fmla="val 311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46166" y="3946525"/>
            <a:ext cx="94993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ПРАКТИЧЕСКИЙ ВВОДНЫЙ КУРС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650959" y="4315206"/>
            <a:ext cx="8889778" cy="139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5600" spc="-140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Создаём ИИ-ассистента для бизнеса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346166" y="5824220"/>
            <a:ext cx="9499362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От простых сценариев к интеллектуальному диалогу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Три подхода к автоматизации общения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311354"/>
            <a:ext cx="11582110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Выбор зависит от предсказуемости сценария и свободы вопроса.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585" y="3176885"/>
            <a:ext cx="3454314" cy="3071515"/>
          </a:xfrm>
          <a:prstGeom prst="roundRect">
            <a:avLst>
              <a:gd name="adj" fmla="val 2865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405485"/>
            <a:ext cx="41909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3954558"/>
            <a:ext cx="299712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Rule-based бот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8179" y="4388723"/>
            <a:ext cx="299712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«Если → то»: меню, FAQ, простые сценарии.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8179" y="5091906"/>
            <a:ext cx="2997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Пример: кнопка «Статус заказа». Ограничение: теряется, когда вопрос выходит за ветку.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8691" y="3176885"/>
            <a:ext cx="3454314" cy="3071515"/>
          </a:xfrm>
          <a:prstGeom prst="roundRect">
            <a:avLst>
              <a:gd name="adj" fmla="val 2865"/>
            </a:avLst>
          </a:prstGeom>
          <a:solidFill>
            <a:srgbClr val="E4DBF8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3405485"/>
            <a:ext cx="41909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3954558"/>
            <a:ext cx="299712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ИИ-ассистент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97285" y="4388723"/>
            <a:ext cx="2997125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Свободные вопросы в рамках инструкций и контекста.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97285" y="5385197"/>
            <a:ext cx="2997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Пример: подобрать товар по потребностям. Ограничение: может уверенно ошибиться.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7797" y="3176885"/>
            <a:ext cx="3454314" cy="3071515"/>
          </a:xfrm>
          <a:prstGeom prst="roundRect">
            <a:avLst>
              <a:gd name="adj" fmla="val 2865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3405485"/>
            <a:ext cx="41909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6391" y="3954558"/>
            <a:ext cx="299712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Гибрид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356391" y="4388723"/>
            <a:ext cx="299712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Предсказуемые сценарии плюс генеративные ответы.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56391" y="5091906"/>
            <a:ext cx="29971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Пример: возврат ведёт кнопками, вопрос о выборе передаёт ИИ. Ограничение: сложнее проектировать.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Какие задачи можно делегировать ассистенту?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300559"/>
          <a:ext cx="5333867" cy="914400"/>
        </p:xfrm>
        <a:graphic>
          <a:graphicData uri="http://schemas.openxmlformats.org/drawingml/2006/table">
            <a:tbl>
              <a:tblPr/>
              <a:tblGrid>
                <a:gridCol w="1482688"/>
                <a:gridCol w="3851179"/>
              </a:tblGrid>
              <a:tr h="1478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spc="-9" kern="100" dirty="0">
                          <a:solidFill>
                            <a:srgbClr val="051D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0"/>
                        </a:rPr>
                        <a:t>Интернет-магазин</a:t>
                      </a:r>
                      <a:endParaRPr lang="en-US" sz="18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50" spc="-9" kern="100" dirty="0">
                          <a:solidFill>
                            <a:srgbClr val="2B3541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0"/>
                        </a:rPr>
                        <a:t>Ответы о товарах по предоставленной информации. Польза: меньше повторов.</a:t>
                      </a:r>
                      <a:endParaRPr lang="en-US" sz="18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1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spc="-9" kern="100" dirty="0">
                          <a:solidFill>
                            <a:srgbClr val="051D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0"/>
                        </a:rPr>
                        <a:t>Сервисная компания</a:t>
                      </a:r>
                      <a:endParaRPr lang="en-US" sz="18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50" spc="-9" kern="100" dirty="0">
                          <a:solidFill>
                            <a:srgbClr val="2B3541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0"/>
                        </a:rPr>
                        <a:t>Первичная консультация. Польза: быстрее понять задачу.</a:t>
                      </a:r>
                      <a:endParaRPr lang="en-US" sz="18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84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spc="-9" kern="100" dirty="0">
                          <a:solidFill>
                            <a:srgbClr val="051D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0"/>
                        </a:rPr>
                        <a:t>Образование</a:t>
                      </a:r>
                      <a:endParaRPr lang="en-US" sz="18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650" spc="-9" kern="100" dirty="0">
                          <a:solidFill>
                            <a:srgbClr val="2B3541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0"/>
                        </a:rPr>
                        <a:t>Организационные вопросы. Польза: ответы вне рабочего времени.</a:t>
                      </a:r>
                      <a:endParaRPr lang="en-US" sz="18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FAF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743" y="1506041"/>
            <a:ext cx="1168371" cy="65722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43" y="2984500"/>
            <a:ext cx="1168371" cy="6572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43" y="4169668"/>
            <a:ext cx="1168371" cy="65722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6248244" y="1300559"/>
            <a:ext cx="5333867" cy="1271687"/>
          </a:xfrm>
          <a:prstGeom prst="roundRect">
            <a:avLst>
              <a:gd name="adj" fmla="val 6921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8" name="Text 2"/>
          <p:cNvSpPr/>
          <p:nvPr/>
        </p:nvSpPr>
        <p:spPr>
          <a:xfrm>
            <a:off x="6426039" y="1436882"/>
            <a:ext cx="497827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Салон или клиника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6426039" y="1871047"/>
            <a:ext cx="497827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Информация об услугах и подготовка к записи. Польза: клиент приходит готовым.</a:t>
            </a:r>
            <a:endParaRPr lang="en-US" sz="1650" dirty="0"/>
          </a:p>
        </p:txBody>
      </p:sp>
      <p:sp>
        <p:nvSpPr>
          <p:cNvPr id="10" name="Shape 4"/>
          <p:cNvSpPr/>
          <p:nvPr/>
        </p:nvSpPr>
        <p:spPr>
          <a:xfrm>
            <a:off x="6248244" y="2724646"/>
            <a:ext cx="5333867" cy="1271687"/>
          </a:xfrm>
          <a:prstGeom prst="roundRect">
            <a:avLst>
              <a:gd name="adj" fmla="val 6921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6426039" y="2860969"/>
            <a:ext cx="497827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B2B-компания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426039" y="3295134"/>
            <a:ext cx="4978275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Первичная квалификация обращения. Польза: менеджер получает контекст.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248244" y="4377333"/>
            <a:ext cx="5333867" cy="1403747"/>
          </a:xfrm>
          <a:prstGeom prst="roundRect">
            <a:avLst>
              <a:gd name="adj" fmla="val 6270"/>
            </a:avLst>
          </a:prstGeom>
          <a:solidFill>
            <a:srgbClr val="FCF2B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788" y="4678164"/>
            <a:ext cx="261931" cy="2095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29264" y="4651653"/>
            <a:ext cx="4443301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ИИ не должен выдумывать цены, наличие товара, расписание и другие факты, которых ему не дали.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Что происходит после сообщения клиента?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312942"/>
            <a:ext cx="115821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Сообщение проходит через интерфейс, сервер и API, а затем возвращается в чат.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09585" y="1781175"/>
            <a:ext cx="849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2074565"/>
            <a:ext cx="1574661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228648"/>
            <a:ext cx="157476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Клиент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2489138" y="1781175"/>
            <a:ext cx="849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489138" y="2074565"/>
            <a:ext cx="1574661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9" name="Text 7"/>
          <p:cNvSpPr/>
          <p:nvPr/>
        </p:nvSpPr>
        <p:spPr>
          <a:xfrm>
            <a:off x="2489138" y="2228648"/>
            <a:ext cx="157476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Чат на сайте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8691" y="1781175"/>
            <a:ext cx="849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03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368691" y="2074565"/>
            <a:ext cx="1574661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2" name="Text 10"/>
          <p:cNvSpPr/>
          <p:nvPr/>
        </p:nvSpPr>
        <p:spPr>
          <a:xfrm>
            <a:off x="4368691" y="2228648"/>
            <a:ext cx="1574761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Backend-сервер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248244" y="1781175"/>
            <a:ext cx="849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04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248244" y="2074565"/>
            <a:ext cx="1574661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2228648"/>
            <a:ext cx="157476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OpenAI API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127797" y="1781175"/>
            <a:ext cx="849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05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127797" y="2074565"/>
            <a:ext cx="1574661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18" name="Text 16"/>
          <p:cNvSpPr/>
          <p:nvPr/>
        </p:nvSpPr>
        <p:spPr>
          <a:xfrm>
            <a:off x="8127797" y="2228648"/>
            <a:ext cx="1574761" cy="563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Backend-сервер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0007350" y="1781175"/>
            <a:ext cx="8493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B8367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06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007350" y="2074565"/>
            <a:ext cx="1574661" cy="19050"/>
          </a:xfrm>
          <a:prstGeom prst="rect">
            <a:avLst/>
          </a:prstGeom>
          <a:solidFill>
            <a:srgbClr val="B8367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7350" y="2228648"/>
            <a:ext cx="1574761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Ответ в чате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609585" y="2970411"/>
            <a:ext cx="6222844" cy="2354759"/>
          </a:xfrm>
          <a:prstGeom prst="roundRect">
            <a:avLst>
              <a:gd name="adj" fmla="val 373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8179" y="3208334"/>
            <a:ext cx="5765656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Что сервер передаёт модели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838179" y="3630116"/>
            <a:ext cx="5765656" cy="987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Инструкции и настройки поведения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Доступную историю диалога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Текущее сообщение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137221" y="2970411"/>
            <a:ext cx="4444889" cy="2354759"/>
          </a:xfrm>
          <a:prstGeom prst="roundRect">
            <a:avLst>
              <a:gd name="adj" fmla="val 3737"/>
            </a:avLst>
          </a:prstGeom>
          <a:solidFill>
            <a:srgbClr val="E4DBF8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5816" y="3208334"/>
            <a:ext cx="3987700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Глоссарий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7365816" y="3642499"/>
            <a:ext cx="3987700" cy="146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Frontend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— интерфейс пользователя.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Backend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— сервер обработки.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API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— взаимодействие с моделью.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Контекст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— доступная информация диалога.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609585" y="5512495"/>
            <a:ext cx="10972526" cy="817166"/>
          </a:xfrm>
          <a:prstGeom prst="roundRect">
            <a:avLst>
              <a:gd name="adj" fmla="val 10770"/>
            </a:avLst>
          </a:prstGeom>
          <a:solidFill>
            <a:srgbClr val="FFB3B4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30" y="5813326"/>
            <a:ext cx="261931" cy="20955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90605" y="5786815"/>
            <a:ext cx="1069154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API-ключ хранится и используется на сервере, а не в коде браузера.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07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ИИ нужно объяснить, как работать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046559"/>
            <a:ext cx="5333867" cy="2945011"/>
          </a:xfrm>
          <a:prstGeom prst="roundRect">
            <a:avLst>
              <a:gd name="adj" fmla="val 2988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38179" y="1284684"/>
            <a:ext cx="51052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НАСТРОЙКИ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8179" y="1598692"/>
            <a:ext cx="4876678" cy="205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Имя: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Помощник магазина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Роль: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Консультант по товарам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Цель: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Помогать клиентам выбирать товары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Тон: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дружелюбный и профессиональный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Длина: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краткая · </a:t>
            </a:r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Язык: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русский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Ограничение: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не придумывать цены и наличие товаров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09585" y="4143970"/>
            <a:ext cx="5333867" cy="2358430"/>
          </a:xfrm>
          <a:prstGeom prst="roundRect">
            <a:avLst>
              <a:gd name="adj" fmla="val 3732"/>
            </a:avLst>
          </a:prstGeom>
          <a:solidFill>
            <a:srgbClr val="E4DBF8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38179" y="4382095"/>
            <a:ext cx="51052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СИСТЕМНАЯ ИНСТРУКЦИЯ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179" y="4696103"/>
            <a:ext cx="4876678" cy="146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«Ты — консультант интернет-магазина. Отвечай вежливо и кратко. Используй только предоставленную информацию. Если данных недостаточно, честно скажи об этом и предложи обратиться к менеджеру»</a:t>
            </a:r>
            <a:endParaRPr lang="en-US" sz="1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244" y="1046559"/>
            <a:ext cx="1428714" cy="190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48244" y="3159839"/>
            <a:ext cx="533386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11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Примеры ответов ассистента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248244" y="3623370"/>
            <a:ext cx="2590735" cy="2216944"/>
          </a:xfrm>
          <a:prstGeom prst="roundRect">
            <a:avLst>
              <a:gd name="adj" fmla="val 397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76838" y="3864352"/>
            <a:ext cx="2133547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«Подберу варианты. Какой бюджет и для чего нужен товар?»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991375" y="3623370"/>
            <a:ext cx="2590735" cy="2216944"/>
          </a:xfrm>
          <a:prstGeom prst="roundRect">
            <a:avLst>
              <a:gd name="adj" fmla="val 3970"/>
            </a:avLst>
          </a:prstGeom>
          <a:solidFill>
            <a:srgbClr val="D3F0ED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219969" y="3864352"/>
            <a:ext cx="2133547" cy="1759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«Актуальной информации о наличии у меня нет. Уточните, пожалуйста, у менеджера»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48244" y="5969298"/>
            <a:ext cx="533386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3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Чёткие инструкции делают поведение предсказуемее, но не гарантируют абсолютную точность.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Почему история диалога имеет значение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312942"/>
            <a:ext cx="115821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Модель видит только тот контекст, который сервер передал в текущем запросе.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9585" y="1781175"/>
            <a:ext cx="5333867" cy="4236541"/>
          </a:xfrm>
          <a:prstGeom prst="roundRect">
            <a:avLst>
              <a:gd name="adj" fmla="val 207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8179" y="2030730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11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Диалог в контексте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38179" y="2494260"/>
            <a:ext cx="584185" cy="584200"/>
          </a:xfrm>
          <a:prstGeom prst="ellipse">
            <a:avLst/>
          </a:prstGeom>
          <a:solidFill>
            <a:srgbClr val="7FD6D2"/>
          </a:solidFill>
          <a:ln/>
          <a:effectLst>
            <a:outerShdw sx="100000" sy="100000" kx="0" ky="0" algn="bl" rotWithShape="0" blurRad="125730" dist="127" dir="16200000">
              <a:srgbClr val="6a4fc8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494260"/>
            <a:ext cx="584185" cy="584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3974" y="2653010"/>
            <a:ext cx="7621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631909" y="2503583"/>
            <a:ext cx="4082948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Клиент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631909" y="2937748"/>
            <a:ext cx="408294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Мне нужен ноутбук для учёбы.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838179" y="3371056"/>
            <a:ext cx="584185" cy="584200"/>
          </a:xfrm>
          <a:prstGeom prst="ellipse">
            <a:avLst/>
          </a:prstGeom>
          <a:solidFill>
            <a:srgbClr val="7FD6D2"/>
          </a:solidFill>
          <a:ln/>
          <a:effectLst>
            <a:outerShdw sx="100000" sy="100000" kx="0" ky="0" algn="bl" rotWithShape="0" blurRad="125730" dist="127" dir="16200000">
              <a:srgbClr val="6a4fc8">
                <a:alpha val="2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9" y="3371056"/>
            <a:ext cx="584185" cy="584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3974" y="3529806"/>
            <a:ext cx="7621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2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631909" y="3380379"/>
            <a:ext cx="4082948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Ассистент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1631909" y="3814544"/>
            <a:ext cx="408294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Какой у вас бюджет?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838179" y="4247852"/>
            <a:ext cx="584185" cy="584200"/>
          </a:xfrm>
          <a:prstGeom prst="ellipse">
            <a:avLst/>
          </a:prstGeom>
          <a:solidFill>
            <a:srgbClr val="7FD6D2"/>
          </a:solidFill>
          <a:ln/>
          <a:effectLst>
            <a:outerShdw sx="100000" sy="100000" kx="0" ky="0" algn="bl" rotWithShape="0" blurRad="125730" dist="127" dir="16200000">
              <a:srgbClr val="6a4fc8">
                <a:alpha val="2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4247852"/>
            <a:ext cx="584185" cy="584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3974" y="4406602"/>
            <a:ext cx="7621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3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631909" y="4257175"/>
            <a:ext cx="4082948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Клиент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1631909" y="4691340"/>
            <a:ext cx="408294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До 300 000 тенге.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8179" y="5105281"/>
            <a:ext cx="487667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 историей ассистент понимает, что бюджет относится к ноутбуку.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6248244" y="2030730"/>
            <a:ext cx="5333867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11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Что меняет история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248244" y="2494260"/>
            <a:ext cx="5333867" cy="3294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Без истории.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Каждый запрос может рассматриваться отдельно.</a:t>
            </a:r>
            <a:endParaRPr lang="en-US" sz="1650" dirty="0"/>
          </a:p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С историей.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Прежние вопросы и ответы доступны в рамках переданного контекста.</a:t>
            </a:r>
            <a:endParaRPr lang="en-US" sz="1650" dirty="0"/>
          </a:p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Длинная история.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Увеличивает расход токенов и может превысить контекстное окно.</a:t>
            </a:r>
            <a:endParaRPr lang="en-US" sz="16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2B3541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Новый диалог или очистка истории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начинают общение заново; контекст диалога — не постоянная память и не база знаний: если история не передана, модель не помнит разговор.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Уверенный ответ не всегда означает правильный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797526"/>
            <a:ext cx="115821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Клиент: «Есть ли товар в наличии?»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9585" y="2265759"/>
            <a:ext cx="5333867" cy="1846461"/>
          </a:xfrm>
          <a:prstGeom prst="roundRect">
            <a:avLst>
              <a:gd name="adj" fmla="val 4766"/>
            </a:avLst>
          </a:prstGeom>
          <a:solidFill>
            <a:srgbClr val="F9DEEA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8179" y="2503884"/>
            <a:ext cx="51052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НЕНАДЁЖНЫЙ ОТВЕТ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791539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11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«Да, конечно, товар есть»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8179" y="3267452"/>
            <a:ext cx="487667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Ассистент не получал актуальных данных об остатках.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48244" y="2265759"/>
            <a:ext cx="5333867" cy="1846461"/>
          </a:xfrm>
          <a:prstGeom prst="roundRect">
            <a:avLst>
              <a:gd name="adj" fmla="val 4766"/>
            </a:avLst>
          </a:prstGeom>
          <a:solidFill>
            <a:srgbClr val="00FFFF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76838" y="2503884"/>
            <a:ext cx="51052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КОРРЕКТНЫЙ ОТВЕТ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76838" y="2791539"/>
            <a:ext cx="4876678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11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«У меня нет актуальной информации о наличии»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76838" y="3602712"/>
            <a:ext cx="510527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«Уточните, пожалуйста, у менеджера».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09585" y="4488775"/>
            <a:ext cx="10972526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11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Четыре правила надёжного ответа</a:t>
            </a:r>
            <a:endParaRPr lang="en-US" sz="2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952266"/>
            <a:ext cx="419090" cy="4191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8219" y="4964688"/>
            <a:ext cx="2000200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Не выдумывать факты.</a:t>
            </a:r>
            <a:endParaRPr lang="en-US" sz="16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15" y="4952266"/>
            <a:ext cx="419090" cy="4191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19449" y="4964688"/>
            <a:ext cx="2000200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Признавать нехватку информации.</a:t>
            </a:r>
            <a:endParaRPr lang="en-US" sz="16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46" y="4952266"/>
            <a:ext cx="419090" cy="4191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0680" y="4964688"/>
            <a:ext cx="2000200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Отделять известное от предположений.</a:t>
            </a:r>
            <a:endParaRPr lang="en-US" sz="16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276" y="4952266"/>
            <a:ext cx="419090" cy="4191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81910" y="4964688"/>
            <a:ext cx="2000200" cy="117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Критичные решения передавать человеку.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Как пользоваться API ответственно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300559"/>
            <a:ext cx="3657509" cy="838200"/>
          </a:xfrm>
          <a:prstGeom prst="rect">
            <a:avLst/>
          </a:prstGeom>
          <a:solidFill>
            <a:srgbClr val="AF9ED8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1300559"/>
            <a:ext cx="3657509" cy="838200"/>
          </a:xfrm>
          <a:prstGeom prst="rect">
            <a:avLst/>
          </a:prstGeom>
          <a:solidFill>
            <a:srgbClr val="C9B8F2"/>
          </a:solidFill>
          <a:ln/>
        </p:spPr>
      </p:sp>
      <p:sp>
        <p:nvSpPr>
          <p:cNvPr id="5" name="Text 3"/>
          <p:cNvSpPr/>
          <p:nvPr/>
        </p:nvSpPr>
        <p:spPr>
          <a:xfrm>
            <a:off x="2348350" y="1562497"/>
            <a:ext cx="78946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1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09585" y="2233807"/>
            <a:ext cx="3657509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API-ключ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09585" y="2667972"/>
            <a:ext cx="3657509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Нужен для обращения к модели. Не публикуйте его в браузере, репозитории или логах.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267093" y="1300559"/>
            <a:ext cx="3657509" cy="838200"/>
          </a:xfrm>
          <a:prstGeom prst="rect">
            <a:avLst/>
          </a:prstGeom>
          <a:solidFill>
            <a:srgbClr val="AF9ED8"/>
          </a:solidFill>
          <a:ln/>
        </p:spPr>
      </p:sp>
      <p:sp>
        <p:nvSpPr>
          <p:cNvPr id="9" name="Shape 7"/>
          <p:cNvSpPr/>
          <p:nvPr/>
        </p:nvSpPr>
        <p:spPr>
          <a:xfrm>
            <a:off x="4267093" y="1300559"/>
            <a:ext cx="3657509" cy="838200"/>
          </a:xfrm>
          <a:prstGeom prst="rect">
            <a:avLst/>
          </a:prstGeom>
          <a:solidFill>
            <a:srgbClr val="C9B8F2"/>
          </a:solidFill>
          <a:ln/>
        </p:spPr>
      </p:sp>
      <p:sp>
        <p:nvSpPr>
          <p:cNvPr id="10" name="Text 8"/>
          <p:cNvSpPr/>
          <p:nvPr/>
        </p:nvSpPr>
        <p:spPr>
          <a:xfrm>
            <a:off x="6005858" y="1562497"/>
            <a:ext cx="78946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2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4267093" y="2233807"/>
            <a:ext cx="3657509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Сервер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267093" y="2667972"/>
            <a:ext cx="3657509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Хранит ключ и ограничивает размер запросов, частоту обращений и длину ответов.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924602" y="1300559"/>
            <a:ext cx="3657509" cy="838200"/>
          </a:xfrm>
          <a:prstGeom prst="rect">
            <a:avLst/>
          </a:prstGeom>
          <a:solidFill>
            <a:srgbClr val="AF9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7924602" y="1300559"/>
            <a:ext cx="3657509" cy="838200"/>
          </a:xfrm>
          <a:prstGeom prst="rect">
            <a:avLst/>
          </a:prstGeom>
          <a:solidFill>
            <a:srgbClr val="C9B8F2"/>
          </a:solidFill>
          <a:ln/>
        </p:spPr>
      </p:sp>
      <p:sp>
        <p:nvSpPr>
          <p:cNvPr id="15" name="Text 13"/>
          <p:cNvSpPr/>
          <p:nvPr/>
        </p:nvSpPr>
        <p:spPr>
          <a:xfrm>
            <a:off x="9663367" y="1562497"/>
            <a:ext cx="78946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3</a:t>
            </a:r>
            <a:endParaRPr lang="en-US" sz="2450" dirty="0"/>
          </a:p>
        </p:txBody>
      </p:sp>
      <p:sp>
        <p:nvSpPr>
          <p:cNvPr id="16" name="Text 14"/>
          <p:cNvSpPr/>
          <p:nvPr/>
        </p:nvSpPr>
        <p:spPr>
          <a:xfrm>
            <a:off x="7924602" y="2233807"/>
            <a:ext cx="3657509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51D3A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API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7924602" y="2667972"/>
            <a:ext cx="365750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Передаёт запрос к модели.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9585" y="3722787"/>
            <a:ext cx="5333867" cy="2061468"/>
          </a:xfrm>
          <a:prstGeom prst="roundRect">
            <a:avLst>
              <a:gd name="adj" fmla="val 4269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8179" y="3960710"/>
            <a:ext cx="4876678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Стоимость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838179" y="4394875"/>
            <a:ext cx="4876678" cy="117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API оплачивается отдельно от подписки ChatGPT. Стоимость зависит от модели и числа входных и выходных токенов. Конкретных цен нет: расчёты — только условные примеры.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6248244" y="3722787"/>
            <a:ext cx="5333867" cy="2061468"/>
          </a:xfrm>
          <a:prstGeom prst="roundRect">
            <a:avLst>
              <a:gd name="adj" fmla="val 4269"/>
            </a:avLst>
          </a:prstGeom>
          <a:solidFill>
            <a:srgbClr val="E4DBF8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76838" y="3960710"/>
            <a:ext cx="4876678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Контроль расходов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6476838" y="4394875"/>
            <a:ext cx="487667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В учебном проекте включите лимиты расходов и следите за потреблением.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От идеи до первого прототипа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300559"/>
            <a:ext cx="10972526" cy="237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Выбрать бизнес и задачу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Придумать имя и роль ассистента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Написать инструкции и ограничения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Настроить тон, язык и длину ответов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Решить, нужна ли история диалога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Подключить API через безопасный серверный слой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Протестировать ассистента в чате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9585" y="3864769"/>
            <a:ext cx="6133947" cy="2061468"/>
          </a:xfrm>
          <a:prstGeom prst="roundRect">
            <a:avLst>
              <a:gd name="adj" fmla="val 4269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8179" y="4102692"/>
            <a:ext cx="5676758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Пример проекта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8179" y="4536857"/>
            <a:ext cx="5676758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Ассистент небольшой кофейни рассказывает о меню по предоставленным данным, помогает подобрать напиток и говорит, когда не знает ответа.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200720" y="3864769"/>
            <a:ext cx="4381390" cy="2061468"/>
          </a:xfrm>
          <a:prstGeom prst="roundRect">
            <a:avLst>
              <a:gd name="adj" fmla="val 4269"/>
            </a:avLst>
          </a:prstGeom>
          <a:solidFill>
            <a:srgbClr val="E4DBF8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29314" y="4102692"/>
            <a:ext cx="3924202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spc="-9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Границы занятия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429314" y="4536857"/>
            <a:ext cx="3924202" cy="117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Только API, инструкции и контекст текущего диалога. Без документов, векторных баз, embeddings, RAG и File Search.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1665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051D3A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Не просто спроси — попробуй сломать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1312942"/>
            <a:ext cx="115821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Хороший тест показывает, где ассистенту не хватает данных, правил или человеческой проверки.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9585" y="1781175"/>
            <a:ext cx="6222844" cy="2690019"/>
          </a:xfrm>
          <a:prstGeom prst="roundRect">
            <a:avLst>
              <a:gd name="adj" fmla="val 3272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8179" y="2019300"/>
            <a:ext cx="59942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2B354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ТЕСТОВАЯ ПАНЕЛЬ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320925"/>
            <a:ext cx="5765656" cy="168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Обычный вопрос по теме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Вопрос с недостаточными данными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Запрос на выдуманную скидку или цену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Противоречивые инструкции от пользователя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2B3541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Длинное или неоднозначное сообщение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137221" y="1781175"/>
            <a:ext cx="4444889" cy="2690019"/>
          </a:xfrm>
          <a:prstGeom prst="roundRect">
            <a:avLst>
              <a:gd name="adj" fmla="val 3272"/>
            </a:avLst>
          </a:prstGeom>
          <a:solidFill>
            <a:srgbClr val="E4DBF8"/>
          </a:solidFill>
          <a:ln/>
          <a:effectLst>
            <a:outerShdw sx="100000" sy="100000" kx="0" ky="0" algn="bl" rotWithShape="0" blurRad="379730" dist="151130" dir="5400000">
              <a:srgbClr val="6a4fc8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65816" y="2019300"/>
            <a:ext cx="42162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6" kern="100" dirty="0">
                <a:solidFill>
                  <a:srgbClr val="000000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0"/>
              </a:rPr>
              <a:t>ЧЕК-ЛИСТ ОТВЕТА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65816" y="2320925"/>
            <a:ext cx="3987700" cy="192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Полезен ли ответ?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Точен ли он в рамках доступной информации?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Соблюдает ли инструкции?</a:t>
            </a:r>
            <a:endParaRPr lang="en-US" sz="1650" dirty="0"/>
          </a:p>
          <a:p>
            <a:pPr algn="l" marL="335280" indent="-335280">
              <a:lnSpc>
                <a:spcPct val="117000"/>
              </a:lnSpc>
              <a:buSzPct val="10000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Понятен ли ответ? Признаны ли ограничения?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09585" y="4658519"/>
            <a:ext cx="10972526" cy="817166"/>
          </a:xfrm>
          <a:prstGeom prst="roundRect">
            <a:avLst>
              <a:gd name="adj" fmla="val 10770"/>
            </a:avLst>
          </a:prstGeom>
          <a:solidFill>
            <a:srgbClr val="B6FCB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30" y="4959350"/>
            <a:ext cx="261931" cy="2095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90605" y="4932839"/>
            <a:ext cx="1069154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Задание:</a:t>
            </a:r>
            <a:pPr algn="l" indent="0" marL="0">
              <a:lnSpc>
                <a:spcPct val="117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0"/>
              </a:rPr>
              <a:t> найдите минимум две проблемы и улучшите инструкции.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2026-10-22T06:35:35Z</dcterms:created>
  <dcterms:modified xsi:type="dcterms:W3CDTF">2026-10-22T06:35:35Z</dcterms:modified>
</cp:coreProperties>
</file>